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strument Serif" charset="1" panose="00000000000000000000"/>
      <p:regular r:id="rId16"/>
    </p:embeddedFont>
    <p:embeddedFont>
      <p:font typeface="Instrument Serif Italic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494932"/>
            <a:ext cx="4122239" cy="532800"/>
            <a:chOff x="0" y="0"/>
            <a:chExt cx="5496319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96306" cy="710438"/>
            </a:xfrm>
            <a:custGeom>
              <a:avLst/>
              <a:gdLst/>
              <a:ahLst/>
              <a:cxnLst/>
              <a:rect r="r" b="b" t="t" l="l"/>
              <a:pathLst>
                <a:path h="710438" w="5496306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5369306" y="0"/>
                  </a:lnTo>
                  <a:cubicBezTo>
                    <a:pt x="5439410" y="0"/>
                    <a:pt x="5496306" y="56896"/>
                    <a:pt x="5496306" y="127000"/>
                  </a:cubicBezTo>
                  <a:lnTo>
                    <a:pt x="5496306" y="583438"/>
                  </a:lnTo>
                  <a:cubicBezTo>
                    <a:pt x="5496306" y="653542"/>
                    <a:pt x="5439410" y="710438"/>
                    <a:pt x="5369306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3513239"/>
            <a:ext cx="4696416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A3 — ESTUDO DE CASO APLICADO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122096"/>
            <a:ext cx="16303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Otimização de Tempos de Carregamento no GTA Online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243037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Estruturas de Dados e Análise de Algoritmos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2837555"/>
            <a:ext cx="2536184" cy="561384"/>
            <a:chOff x="0" y="0"/>
            <a:chExt cx="3381578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81502" cy="748411"/>
            </a:xfrm>
            <a:custGeom>
              <a:avLst/>
              <a:gdLst/>
              <a:ahLst/>
              <a:cxnLst/>
              <a:rect r="r" b="b" t="t" l="l"/>
              <a:pathLst>
                <a:path h="748411" w="3381502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3252343" y="0"/>
                  </a:lnTo>
                  <a:cubicBezTo>
                    <a:pt x="3323717" y="0"/>
                    <a:pt x="3381502" y="57912"/>
                    <a:pt x="3381502" y="129159"/>
                  </a:cubicBezTo>
                  <a:lnTo>
                    <a:pt x="3381502" y="619252"/>
                  </a:lnTo>
                  <a:cubicBezTo>
                    <a:pt x="3381502" y="690626"/>
                    <a:pt x="3323590" y="748411"/>
                    <a:pt x="3252343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33" r="-2" b="-38046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2870149"/>
            <a:ext cx="3081785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ESCOLHA DO CASO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488531"/>
            <a:ext cx="1134531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Rockstar Games e o GTA Online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8041" y="4818755"/>
            <a:ext cx="8214274" cy="2625928"/>
            <a:chOff x="0" y="0"/>
            <a:chExt cx="10952366" cy="35012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52353" cy="3501263"/>
            </a:xfrm>
            <a:custGeom>
              <a:avLst/>
              <a:gdLst/>
              <a:ahLst/>
              <a:cxnLst/>
              <a:rect r="r" b="b" t="t" l="l"/>
              <a:pathLst>
                <a:path h="3501263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229102"/>
                  </a:lnTo>
                  <a:cubicBezTo>
                    <a:pt x="10952353" y="3379470"/>
                    <a:pt x="10830433" y="3501263"/>
                    <a:pt x="10680192" y="3501263"/>
                  </a:cubicBezTo>
                  <a:lnTo>
                    <a:pt x="272161" y="3501263"/>
                  </a:lnTo>
                  <a:cubicBezTo>
                    <a:pt x="121920" y="3501263"/>
                    <a:pt x="0" y="3379343"/>
                    <a:pt x="0" y="3229102"/>
                  </a:cubicBezTo>
                  <a:close/>
                </a:path>
              </a:pathLst>
            </a:custGeom>
            <a:solidFill>
              <a:srgbClr val="505468">
                <a:alpha val="90196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1562" y="509275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Empresa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62" y="5733450"/>
            <a:ext cx="764723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Rockstar Games é uma das maiores desenvolvedoras de jogos do mundo, criadora do Grand Theft Auto V.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6" y="509275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Produto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6" y="5733450"/>
            <a:ext cx="7805890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GTA Online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é o modo multijogador massivo do GTA V, lançado em 2013 e que se mantém como um dos produtos mais lucrativos da indústria do entretenimento.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2030616"/>
            <a:ext cx="2773261" cy="561384"/>
            <a:chOff x="0" y="0"/>
            <a:chExt cx="3697681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97605" cy="748411"/>
            </a:xfrm>
            <a:custGeom>
              <a:avLst/>
              <a:gdLst/>
              <a:ahLst/>
              <a:cxnLst/>
              <a:rect r="r" b="b" t="t" l="l"/>
              <a:pathLst>
                <a:path h="748411" w="3697605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3568446" y="0"/>
                  </a:lnTo>
                  <a:cubicBezTo>
                    <a:pt x="3639820" y="0"/>
                    <a:pt x="3697605" y="57912"/>
                    <a:pt x="3697605" y="129159"/>
                  </a:cubicBezTo>
                  <a:lnTo>
                    <a:pt x="3697605" y="619252"/>
                  </a:lnTo>
                  <a:cubicBezTo>
                    <a:pt x="3697605" y="690626"/>
                    <a:pt x="3639693" y="748411"/>
                    <a:pt x="3568446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63" r="-2" b="-46276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2063201"/>
            <a:ext cx="3318872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CONTEXTUALIZAÇÃO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681583"/>
            <a:ext cx="13386492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Problema do Carregamento Infinito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916556"/>
            <a:ext cx="16303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Durante anos, jogadores enfrentaram telas de carregamento de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 a 15 minutos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ao iniciar o modo multiplayer — mesmo em hardware topo de linha. Em 2021, o desenvolvedor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t0st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investigou o problema e descobriu que a CPU disparava em um único núcleo, enquanto disco e rede ficavam zerados.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7476" y="5686873"/>
            <a:ext cx="5254971" cy="2569521"/>
            <a:chOff x="0" y="0"/>
            <a:chExt cx="7006628" cy="34260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6589" cy="3426079"/>
            </a:xfrm>
            <a:custGeom>
              <a:avLst/>
              <a:gdLst/>
              <a:ahLst/>
              <a:cxnLst/>
              <a:rect r="r" b="b" t="t" l="l"/>
              <a:pathLst>
                <a:path h="3426079" w="7006589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205" y="0"/>
                  </a:lnTo>
                  <a:cubicBezTo>
                    <a:pt x="6935215" y="0"/>
                    <a:pt x="7006589" y="71374"/>
                    <a:pt x="7006589" y="159385"/>
                  </a:cubicBezTo>
                  <a:lnTo>
                    <a:pt x="7006589" y="3266694"/>
                  </a:lnTo>
                  <a:cubicBezTo>
                    <a:pt x="7006589" y="3354705"/>
                    <a:pt x="6935215" y="3426079"/>
                    <a:pt x="6847205" y="3426079"/>
                  </a:cubicBezTo>
                  <a:lnTo>
                    <a:pt x="159385" y="3426079"/>
                  </a:lnTo>
                  <a:cubicBezTo>
                    <a:pt x="71374" y="3426079"/>
                    <a:pt x="0" y="3354705"/>
                    <a:pt x="0" y="3266694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85284" y="5975147"/>
            <a:ext cx="358288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Retenção de Usuários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6502451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Esperas longas desmotivavam jogadores, reduzindo o </a:t>
            </a: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Daily Active Users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(DAU).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5686873"/>
            <a:ext cx="5254971" cy="2569521"/>
            <a:chOff x="0" y="0"/>
            <a:chExt cx="7006628" cy="34260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6589" cy="3426079"/>
            </a:xfrm>
            <a:custGeom>
              <a:avLst/>
              <a:gdLst/>
              <a:ahLst/>
              <a:cxnLst/>
              <a:rect r="r" b="b" t="t" l="l"/>
              <a:pathLst>
                <a:path h="3426079" w="7006589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205" y="0"/>
                  </a:lnTo>
                  <a:cubicBezTo>
                    <a:pt x="6935215" y="0"/>
                    <a:pt x="7006589" y="71374"/>
                    <a:pt x="7006589" y="159385"/>
                  </a:cubicBezTo>
                  <a:lnTo>
                    <a:pt x="7006589" y="3266694"/>
                  </a:lnTo>
                  <a:cubicBezTo>
                    <a:pt x="7006589" y="3354705"/>
                    <a:pt x="6935215" y="3426079"/>
                    <a:pt x="6847205" y="3426079"/>
                  </a:cubicBezTo>
                  <a:lnTo>
                    <a:pt x="159385" y="3426079"/>
                  </a:lnTo>
                  <a:cubicBezTo>
                    <a:pt x="71374" y="3426079"/>
                    <a:pt x="0" y="3354705"/>
                    <a:pt x="0" y="3266694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14242" y="5975147"/>
            <a:ext cx="3809257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Experiência do Usuário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14242" y="6502451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Frustração generalizada e saturação de reclamações em fóruns de suporte.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45401" y="5686873"/>
            <a:ext cx="5254971" cy="2569521"/>
            <a:chOff x="0" y="0"/>
            <a:chExt cx="7006628" cy="34260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06589" cy="3426079"/>
            </a:xfrm>
            <a:custGeom>
              <a:avLst/>
              <a:gdLst/>
              <a:ahLst/>
              <a:cxnLst/>
              <a:rect r="r" b="b" t="t" l="l"/>
              <a:pathLst>
                <a:path h="3426079" w="7006589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205" y="0"/>
                  </a:lnTo>
                  <a:cubicBezTo>
                    <a:pt x="6935215" y="0"/>
                    <a:pt x="7006589" y="71374"/>
                    <a:pt x="7006589" y="159385"/>
                  </a:cubicBezTo>
                  <a:lnTo>
                    <a:pt x="7006589" y="3266694"/>
                  </a:lnTo>
                  <a:cubicBezTo>
                    <a:pt x="7006589" y="3354705"/>
                    <a:pt x="6935215" y="3426079"/>
                    <a:pt x="6847205" y="3426079"/>
                  </a:cubicBezTo>
                  <a:lnTo>
                    <a:pt x="159385" y="3426079"/>
                  </a:lnTo>
                  <a:cubicBezTo>
                    <a:pt x="71374" y="3426079"/>
                    <a:pt x="0" y="3354705"/>
                    <a:pt x="0" y="3266694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43209" y="5975147"/>
            <a:ext cx="363929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Custo Computacional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3209" y="6502451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Desperdício de processamento no lado do cliente com loops redundantes.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2632024"/>
            <a:ext cx="2227069" cy="561384"/>
            <a:chOff x="0" y="0"/>
            <a:chExt cx="2969425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69387" cy="748411"/>
            </a:xfrm>
            <a:custGeom>
              <a:avLst/>
              <a:gdLst/>
              <a:ahLst/>
              <a:cxnLst/>
              <a:rect r="r" b="b" t="t" l="l"/>
              <a:pathLst>
                <a:path h="748411" w="2969387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2840228" y="0"/>
                  </a:lnTo>
                  <a:cubicBezTo>
                    <a:pt x="2911602" y="0"/>
                    <a:pt x="2969387" y="57912"/>
                    <a:pt x="2969387" y="129159"/>
                  </a:cubicBezTo>
                  <a:lnTo>
                    <a:pt x="2969387" y="619252"/>
                  </a:lnTo>
                  <a:cubicBezTo>
                    <a:pt x="2969387" y="690626"/>
                    <a:pt x="2911475" y="748411"/>
                    <a:pt x="2840228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02" r="-1" b="-27316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2664619"/>
            <a:ext cx="2772670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RAIO-X TÉCNICO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283001"/>
            <a:ext cx="11596240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Arquitetura e Stack Tecnológico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238" y="461322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333" t="0" r="-1533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2238" y="566677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Linguagem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194079"/>
            <a:ext cx="5198269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C++ — padrão da engine proprietária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RAGE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(</a:t>
            </a: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Rockstar Advanced Game Engine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).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544866" y="461322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667" r="0" b="-866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44866" y="566677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Formato de Dados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4866" y="6194079"/>
            <a:ext cx="5198269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JSON de ~10 MB contendo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63.000 itens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de customização compráveis no jogo.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2097493" y="4613224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332" t="0" r="-7334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097493" y="566677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Infraestrutura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3" y="6194079"/>
            <a:ext cx="5198269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Execução local (</a:t>
            </a: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client-side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) durante a inicialização, rodando estritamente em uma única </a:t>
            </a: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thread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(single-core).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49911" y="645319"/>
            <a:ext cx="1711671" cy="403917"/>
            <a:chOff x="0" y="0"/>
            <a:chExt cx="2282228" cy="538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2190" cy="538480"/>
            </a:xfrm>
            <a:custGeom>
              <a:avLst/>
              <a:gdLst/>
              <a:ahLst/>
              <a:cxnLst/>
              <a:rect r="r" b="b" t="t" l="l"/>
              <a:pathLst>
                <a:path h="538480" w="2282190">
                  <a:moveTo>
                    <a:pt x="0" y="99568"/>
                  </a:moveTo>
                  <a:cubicBezTo>
                    <a:pt x="0" y="44577"/>
                    <a:pt x="44577" y="0"/>
                    <a:pt x="99568" y="0"/>
                  </a:cubicBezTo>
                  <a:lnTo>
                    <a:pt x="2182622" y="0"/>
                  </a:lnTo>
                  <a:cubicBezTo>
                    <a:pt x="2237613" y="0"/>
                    <a:pt x="2282190" y="44577"/>
                    <a:pt x="2282190" y="99568"/>
                  </a:cubicBezTo>
                  <a:lnTo>
                    <a:pt x="2282190" y="438912"/>
                  </a:lnTo>
                  <a:cubicBezTo>
                    <a:pt x="2282190" y="493903"/>
                    <a:pt x="2237613" y="538480"/>
                    <a:pt x="2182622" y="538480"/>
                  </a:cubicBezTo>
                  <a:lnTo>
                    <a:pt x="99568" y="538480"/>
                  </a:lnTo>
                  <a:cubicBezTo>
                    <a:pt x="44577" y="538607"/>
                    <a:pt x="0" y="494030"/>
                    <a:pt x="0" y="43891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75" r="-1" b="-32590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794424" y="696068"/>
            <a:ext cx="2337044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3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RAIO-X TÉCNICO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4673" y="1091803"/>
            <a:ext cx="8094459" cy="69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As Duas Falhas Algorítmicas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4673" y="4090387"/>
            <a:ext cx="7224417" cy="65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Ao analisar o binário com ferramentas de </a:t>
            </a:r>
            <a:r>
              <a:rPr lang="en-US" sz="17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reversing</a:t>
            </a: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(x64dbg), t0st identificou: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1626098" y="4928587"/>
            <a:ext cx="3557740" cy="2580684"/>
          </a:xfrm>
          <a:custGeom>
            <a:avLst/>
            <a:gdLst/>
            <a:ahLst/>
            <a:cxnLst/>
            <a:rect r="r" b="b" t="t" l="l"/>
            <a:pathLst>
              <a:path h="2580684" w="3557740">
                <a:moveTo>
                  <a:pt x="0" y="0"/>
                </a:moveTo>
                <a:lnTo>
                  <a:pt x="3557740" y="0"/>
                </a:lnTo>
                <a:lnTo>
                  <a:pt x="3557740" y="2580685"/>
                </a:lnTo>
                <a:lnTo>
                  <a:pt x="0" y="2580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3" t="0" r="-5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85962" y="5155111"/>
            <a:ext cx="2952302" cy="69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Parser de JSON Ineficiente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5962" y="5980214"/>
            <a:ext cx="2952302" cy="67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Recalculava </a:t>
            </a: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strlen</a:t>
            </a: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 cada caractere lido do arquivo.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5321351" y="4928587"/>
            <a:ext cx="3557740" cy="2580684"/>
          </a:xfrm>
          <a:custGeom>
            <a:avLst/>
            <a:gdLst/>
            <a:ahLst/>
            <a:cxnLst/>
            <a:rect r="r" b="b" t="t" l="l"/>
            <a:pathLst>
              <a:path h="2580684" w="3557740">
                <a:moveTo>
                  <a:pt x="0" y="0"/>
                </a:moveTo>
                <a:lnTo>
                  <a:pt x="3557740" y="0"/>
                </a:lnTo>
                <a:lnTo>
                  <a:pt x="3557740" y="2580685"/>
                </a:lnTo>
                <a:lnTo>
                  <a:pt x="0" y="2580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3" t="0" r="-5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81215" y="5155111"/>
            <a:ext cx="2952302" cy="69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Deduplicação por Busca Linear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81215" y="5980214"/>
            <a:ext cx="2952302" cy="128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Para cada um dos 63.000 itens, o código executava </a:t>
            </a: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array.find()</a:t>
            </a:r>
            <a:r>
              <a:rPr lang="en-US" sz="1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percorrendo a lista sequencialmente.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18139" y="2225431"/>
            <a:ext cx="7224417" cy="7224417"/>
            <a:chOff x="0" y="0"/>
            <a:chExt cx="9632556" cy="9632556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9632569" cy="9632569"/>
            </a:xfrm>
            <a:custGeom>
              <a:avLst/>
              <a:gdLst/>
              <a:ahLst/>
              <a:cxnLst/>
              <a:rect r="r" b="b" t="t" l="l"/>
              <a:pathLst>
                <a:path h="9632569" w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576092"/>
            <a:ext cx="2173338" cy="561384"/>
            <a:chOff x="0" y="0"/>
            <a:chExt cx="2897784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7759" cy="748411"/>
            </a:xfrm>
            <a:custGeom>
              <a:avLst/>
              <a:gdLst/>
              <a:ahLst/>
              <a:cxnLst/>
              <a:rect r="r" b="b" t="t" l="l"/>
              <a:pathLst>
                <a:path h="748411" w="2897759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2768600" y="0"/>
                  </a:lnTo>
                  <a:cubicBezTo>
                    <a:pt x="2839974" y="0"/>
                    <a:pt x="2897759" y="57912"/>
                    <a:pt x="2897759" y="129159"/>
                  </a:cubicBezTo>
                  <a:lnTo>
                    <a:pt x="2897759" y="619252"/>
                  </a:lnTo>
                  <a:cubicBezTo>
                    <a:pt x="2897759" y="690626"/>
                    <a:pt x="2839847" y="748411"/>
                    <a:pt x="2768600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37" r="0" b="-25451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608687"/>
            <a:ext cx="2718940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CLASSIFICAÇÃO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227059"/>
            <a:ext cx="12654410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Complexidade Algorítmica Original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41852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O(n²)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7743" y="4979346"/>
            <a:ext cx="382725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Complexidade Original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506641"/>
            <a:ext cx="5198269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Complexidade quadrática — inviável para grandes volumes de dados.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4866" y="3841852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63K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71902" y="497934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Itens no JSON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4866" y="5506641"/>
            <a:ext cx="5198269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Resultado: ~3,9 bilhões de operações de comparação no pior caso.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7493" y="3841852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10MB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4530" y="4979346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Arquivo JSON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3" y="5506641"/>
            <a:ext cx="5198269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Tamanho do arquivo de dados processado na inicialização.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828082"/>
            <a:ext cx="16303523" cy="1559128"/>
            <a:chOff x="0" y="0"/>
            <a:chExt cx="21738031" cy="20788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37955" cy="2078863"/>
            </a:xfrm>
            <a:custGeom>
              <a:avLst/>
              <a:gdLst/>
              <a:ahLst/>
              <a:cxnLst/>
              <a:rect r="r" b="b" t="t" l="l"/>
              <a:pathLst>
                <a:path h="2078863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920113"/>
                  </a:lnTo>
                  <a:cubicBezTo>
                    <a:pt x="21737955" y="2007743"/>
                    <a:pt x="21666836" y="2078863"/>
                    <a:pt x="21579205" y="2078863"/>
                  </a:cubicBezTo>
                  <a:lnTo>
                    <a:pt x="158750" y="2078863"/>
                  </a:lnTo>
                  <a:cubicBezTo>
                    <a:pt x="71120" y="2078863"/>
                    <a:pt x="0" y="2007743"/>
                    <a:pt x="0" y="1920113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75750" y="7229627"/>
            <a:ext cx="354359" cy="283521"/>
            <a:chOff x="0" y="0"/>
            <a:chExt cx="472478" cy="378028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913630" y="7058768"/>
            <a:ext cx="1509861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 problema pertence à classe </a:t>
            </a:r>
            <a:r>
              <a:rPr lang="en-US" sz="22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</a:t>
            </a:r>
            <a:r>
              <a:rPr lang="en-US" sz="22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(tempo polinomial), mas foi implementado de forma ingênua, tornando-se inviável com o crescimento dos dados ao longo dos anos.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5563" y="757533"/>
            <a:ext cx="2665219" cy="517331"/>
            <a:chOff x="0" y="0"/>
            <a:chExt cx="3553625" cy="689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3587" cy="689737"/>
            </a:xfrm>
            <a:custGeom>
              <a:avLst/>
              <a:gdLst/>
              <a:ahLst/>
              <a:cxnLst/>
              <a:rect r="r" b="b" t="t" l="l"/>
              <a:pathLst>
                <a:path h="689737" w="3553587">
                  <a:moveTo>
                    <a:pt x="0" y="121285"/>
                  </a:moveTo>
                  <a:cubicBezTo>
                    <a:pt x="0" y="54356"/>
                    <a:pt x="54356" y="0"/>
                    <a:pt x="121285" y="0"/>
                  </a:cubicBezTo>
                  <a:lnTo>
                    <a:pt x="3432302" y="0"/>
                  </a:lnTo>
                  <a:cubicBezTo>
                    <a:pt x="3499358" y="0"/>
                    <a:pt x="3553587" y="54356"/>
                    <a:pt x="3553587" y="121285"/>
                  </a:cubicBezTo>
                  <a:lnTo>
                    <a:pt x="3553587" y="568452"/>
                  </a:lnTo>
                  <a:cubicBezTo>
                    <a:pt x="3553587" y="635508"/>
                    <a:pt x="3499231" y="689737"/>
                    <a:pt x="3432302" y="689737"/>
                  </a:cubicBezTo>
                  <a:lnTo>
                    <a:pt x="121285" y="689737"/>
                  </a:lnTo>
                  <a:cubicBezTo>
                    <a:pt x="54356" y="689737"/>
                    <a:pt x="0" y="635508"/>
                    <a:pt x="0" y="5684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86" r="-1" b="-50392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99242" y="794299"/>
            <a:ext cx="3232252" cy="38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PROPOSTA DO GRUPO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0326" y="1350616"/>
            <a:ext cx="10040245" cy="84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Solução: Array → Tabela Hash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56592" y="2573979"/>
            <a:ext cx="12774663" cy="5846559"/>
            <a:chOff x="0" y="0"/>
            <a:chExt cx="17032884" cy="779541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7032860" cy="7795387"/>
            </a:xfrm>
            <a:custGeom>
              <a:avLst/>
              <a:gdLst/>
              <a:ahLst/>
              <a:cxnLst/>
              <a:rect r="r" b="b" t="t" l="l"/>
              <a:pathLst>
                <a:path h="7795387" w="17032860">
                  <a:moveTo>
                    <a:pt x="0" y="0"/>
                  </a:moveTo>
                  <a:lnTo>
                    <a:pt x="17032860" y="0"/>
                  </a:lnTo>
                  <a:lnTo>
                    <a:pt x="17032860" y="7795387"/>
                  </a:lnTo>
                  <a:lnTo>
                    <a:pt x="0" y="779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" r="0" b="-2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538224" y="7013124"/>
            <a:ext cx="2398357" cy="48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Inserir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5637" y="7013124"/>
            <a:ext cx="2398357" cy="48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Verificar O(1)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9480" y="7013124"/>
            <a:ext cx="2398357" cy="48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Hashear 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37611" y="7013124"/>
            <a:ext cx="2398357" cy="48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9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Instanciar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326" y="8643642"/>
            <a:ext cx="16427348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Em vez de buscar sequencialmente em um vetor dinâmico </a:t>
            </a:r>
            <a:r>
              <a:rPr lang="en-US" sz="20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O(n)</a:t>
            </a:r>
            <a:r>
              <a:rPr lang="en-US" sz="20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 cada iteração, a tabela hash permite busca e inserção em </a:t>
            </a:r>
            <a:r>
              <a:rPr lang="en-US" sz="20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O(1)</a:t>
            </a:r>
            <a:r>
              <a:rPr lang="en-US" sz="20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— tempo constante.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412977"/>
            <a:ext cx="2840831" cy="561384"/>
            <a:chOff x="0" y="0"/>
            <a:chExt cx="3787775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87648" cy="748411"/>
            </a:xfrm>
            <a:custGeom>
              <a:avLst/>
              <a:gdLst/>
              <a:ahLst/>
              <a:cxnLst/>
              <a:rect r="r" b="b" t="t" l="l"/>
              <a:pathLst>
                <a:path h="748411" w="3787648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3658489" y="0"/>
                  </a:lnTo>
                  <a:cubicBezTo>
                    <a:pt x="3729863" y="0"/>
                    <a:pt x="3787648" y="57912"/>
                    <a:pt x="3787648" y="129159"/>
                  </a:cubicBezTo>
                  <a:lnTo>
                    <a:pt x="3787648" y="619252"/>
                  </a:lnTo>
                  <a:cubicBezTo>
                    <a:pt x="3787648" y="690626"/>
                    <a:pt x="3729736" y="748411"/>
                    <a:pt x="3658489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08" r="-3" b="-48622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445571"/>
            <a:ext cx="3386433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PROPOSTA DO GRUPO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063944"/>
            <a:ext cx="13295709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Ganhos de Desempenho e Trade-offs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8041" y="3394177"/>
            <a:ext cx="8214274" cy="5475094"/>
            <a:chOff x="0" y="0"/>
            <a:chExt cx="10952366" cy="7300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52353" cy="7300087"/>
            </a:xfrm>
            <a:custGeom>
              <a:avLst/>
              <a:gdLst/>
              <a:ahLst/>
              <a:cxnLst/>
              <a:rect r="r" b="b" t="t" l="l"/>
              <a:pathLst>
                <a:path h="7300087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7027926"/>
                  </a:lnTo>
                  <a:cubicBezTo>
                    <a:pt x="10952353" y="7178294"/>
                    <a:pt x="10830433" y="7300087"/>
                    <a:pt x="10680192" y="7300087"/>
                  </a:cubicBezTo>
                  <a:lnTo>
                    <a:pt x="272161" y="7300087"/>
                  </a:lnTo>
                  <a:cubicBezTo>
                    <a:pt x="121920" y="7300087"/>
                    <a:pt x="0" y="7178294"/>
                    <a:pt x="0" y="7027926"/>
                  </a:cubicBezTo>
                  <a:close/>
                </a:path>
              </a:pathLst>
            </a:custGeom>
            <a:solidFill>
              <a:srgbClr val="505468">
                <a:alpha val="90196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1562" y="3668163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Antes → Depois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1562" y="4308872"/>
            <a:ext cx="7647232" cy="287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O(n²) → O(n)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 ~3,9 bilhões de comparações para apenas </a:t>
            </a: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63.000 operações</a:t>
            </a: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Tempo de processamento cai de </a:t>
            </a: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minutos para milissegundos</a:t>
            </a: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6" y="3668163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Limitação / Trade-off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6" y="4308872"/>
            <a:ext cx="7805890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Pequeno incremento no consumo de memória RAM para armazenar ponteiros e índices da tabela hash — completamente desprezível para computadores modernos rodando um jogo desse porte.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99406" y="6537569"/>
            <a:ext cx="7805890" cy="2012756"/>
            <a:chOff x="0" y="0"/>
            <a:chExt cx="10407853" cy="26836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07777" cy="2683637"/>
            </a:xfrm>
            <a:custGeom>
              <a:avLst/>
              <a:gdLst/>
              <a:ahLst/>
              <a:cxnLst/>
              <a:rect r="r" b="b" t="t" l="l"/>
              <a:pathLst>
                <a:path h="2683637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524887"/>
                  </a:lnTo>
                  <a:cubicBezTo>
                    <a:pt x="10407777" y="2612644"/>
                    <a:pt x="10336657" y="2683637"/>
                    <a:pt x="10249027" y="2683637"/>
                  </a:cubicBezTo>
                  <a:lnTo>
                    <a:pt x="158750" y="2683637"/>
                  </a:lnTo>
                  <a:cubicBezTo>
                    <a:pt x="70993" y="2683637"/>
                    <a:pt x="0" y="2612517"/>
                    <a:pt x="0" y="2524887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82918" y="6967690"/>
            <a:ext cx="354359" cy="283521"/>
            <a:chOff x="0" y="0"/>
            <a:chExt cx="472478" cy="37802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420798" y="6768255"/>
            <a:ext cx="6600977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Vantagem principal:</a:t>
            </a:r>
            <a:r>
              <a:rPr lang="en-US" sz="220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Ganho brutal de desempenho com mudança pontual na estrutura de dados.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530848"/>
            <a:ext cx="2290915" cy="561384"/>
            <a:chOff x="0" y="0"/>
            <a:chExt cx="3054553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54477" cy="748411"/>
            </a:xfrm>
            <a:custGeom>
              <a:avLst/>
              <a:gdLst/>
              <a:ahLst/>
              <a:cxnLst/>
              <a:rect r="r" b="b" t="t" l="l"/>
              <a:pathLst>
                <a:path h="748411" w="3054477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2925318" y="0"/>
                  </a:lnTo>
                  <a:cubicBezTo>
                    <a:pt x="2996692" y="0"/>
                    <a:pt x="3054477" y="57912"/>
                    <a:pt x="3054477" y="129159"/>
                  </a:cubicBezTo>
                  <a:lnTo>
                    <a:pt x="3054477" y="619252"/>
                  </a:lnTo>
                  <a:cubicBezTo>
                    <a:pt x="3054477" y="690626"/>
                    <a:pt x="2996565" y="748411"/>
                    <a:pt x="2925318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19" r="-2" b="-29532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563443"/>
            <a:ext cx="2836516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ANÁLISE CRÍTICA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181816"/>
            <a:ext cx="11630320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Impacto Real e Reconhecimento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476" y="3507286"/>
            <a:ext cx="5254971" cy="4157215"/>
            <a:chOff x="0" y="0"/>
            <a:chExt cx="7006628" cy="55429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06590" cy="5542915"/>
            </a:xfrm>
            <a:custGeom>
              <a:avLst/>
              <a:gdLst/>
              <a:ahLst/>
              <a:cxnLst/>
              <a:rect r="r" b="b" t="t" l="l"/>
              <a:pathLst>
                <a:path h="5542915" w="700659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6847459" y="0"/>
                  </a:lnTo>
                  <a:cubicBezTo>
                    <a:pt x="6935343" y="0"/>
                    <a:pt x="7006590" y="71247"/>
                    <a:pt x="7006590" y="159131"/>
                  </a:cubicBezTo>
                  <a:lnTo>
                    <a:pt x="7006590" y="5383784"/>
                  </a:lnTo>
                  <a:cubicBezTo>
                    <a:pt x="7006590" y="5471668"/>
                    <a:pt x="6935343" y="5542915"/>
                    <a:pt x="6847459" y="5542915"/>
                  </a:cubicBezTo>
                  <a:lnTo>
                    <a:pt x="159131" y="5542915"/>
                  </a:lnTo>
                  <a:cubicBezTo>
                    <a:pt x="71247" y="5542915"/>
                    <a:pt x="0" y="5471668"/>
                    <a:pt x="0" y="5383784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5284" y="3805085"/>
            <a:ext cx="850554" cy="850554"/>
            <a:chOff x="0" y="0"/>
            <a:chExt cx="1134072" cy="11340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519238" y="4038895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85284" y="492963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70% Mais Rápido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284" y="5456930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+6 minutos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para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1min50s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de carregamento após a correção.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16443" y="3507286"/>
            <a:ext cx="5254971" cy="4157215"/>
            <a:chOff x="0" y="0"/>
            <a:chExt cx="7006628" cy="55429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6590" cy="5542915"/>
            </a:xfrm>
            <a:custGeom>
              <a:avLst/>
              <a:gdLst/>
              <a:ahLst/>
              <a:cxnLst/>
              <a:rect r="r" b="b" t="t" l="l"/>
              <a:pathLst>
                <a:path h="5542915" w="700659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6847459" y="0"/>
                  </a:lnTo>
                  <a:cubicBezTo>
                    <a:pt x="6935343" y="0"/>
                    <a:pt x="7006590" y="71247"/>
                    <a:pt x="7006590" y="159131"/>
                  </a:cubicBezTo>
                  <a:lnTo>
                    <a:pt x="7006590" y="5383784"/>
                  </a:lnTo>
                  <a:cubicBezTo>
                    <a:pt x="7006590" y="5471668"/>
                    <a:pt x="6935343" y="5542915"/>
                    <a:pt x="6847459" y="5542915"/>
                  </a:cubicBezTo>
                  <a:lnTo>
                    <a:pt x="159131" y="5542915"/>
                  </a:lnTo>
                  <a:cubicBezTo>
                    <a:pt x="71247" y="5542915"/>
                    <a:pt x="0" y="5471668"/>
                    <a:pt x="0" y="5383784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14242" y="3805085"/>
            <a:ext cx="850554" cy="850554"/>
            <a:chOff x="0" y="0"/>
            <a:chExt cx="1134072" cy="113407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7048205" y="4038895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14242" y="4929635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Bug Bounty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14242" y="5456930"/>
            <a:ext cx="465936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Rockstar reconheceu o erro publicamente, adotou o patch oficial e premiou t0st com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US$ 10.000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45401" y="3507286"/>
            <a:ext cx="5254971" cy="4157215"/>
            <a:chOff x="0" y="0"/>
            <a:chExt cx="7006628" cy="55429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5542915"/>
            </a:xfrm>
            <a:custGeom>
              <a:avLst/>
              <a:gdLst/>
              <a:ahLst/>
              <a:cxnLst/>
              <a:rect r="r" b="b" t="t" l="l"/>
              <a:pathLst>
                <a:path h="5542915" w="7006590">
                  <a:moveTo>
                    <a:pt x="0" y="159131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6847459" y="0"/>
                  </a:lnTo>
                  <a:cubicBezTo>
                    <a:pt x="6935343" y="0"/>
                    <a:pt x="7006590" y="71247"/>
                    <a:pt x="7006590" y="159131"/>
                  </a:cubicBezTo>
                  <a:lnTo>
                    <a:pt x="7006590" y="5383784"/>
                  </a:lnTo>
                  <a:cubicBezTo>
                    <a:pt x="7006590" y="5471668"/>
                    <a:pt x="6935343" y="5542915"/>
                    <a:pt x="6847459" y="5542915"/>
                  </a:cubicBezTo>
                  <a:lnTo>
                    <a:pt x="159131" y="5542915"/>
                  </a:lnTo>
                  <a:cubicBezTo>
                    <a:pt x="71247" y="5542915"/>
                    <a:pt x="0" y="5471668"/>
                    <a:pt x="0" y="5383784"/>
                  </a:cubicBezTo>
                  <a:close/>
                </a:path>
              </a:pathLst>
            </a:custGeom>
            <a:solidFill>
              <a:srgbClr val="E2E3E9"/>
            </a:solidFill>
            <a:ln w="9526" cap="sq">
              <a:solidFill>
                <a:srgbClr val="C8C9C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3805085"/>
            <a:ext cx="850554" cy="850554"/>
            <a:chOff x="0" y="0"/>
            <a:chExt cx="1134072" cy="113407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4038895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659" t="0" r="-365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4929635"/>
            <a:ext cx="385747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Lição de Escalabilidade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5456930"/>
            <a:ext cx="4659363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Em 2013, </a:t>
            </a: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n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era pequeno e o impacto imperceptível. Com 8 anos de DLCs, o algoritmo 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O(n²)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se degradou terrivelmente.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7444" y="7883423"/>
            <a:ext cx="1679272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"Nem sempre a melhor solução teórica é a melhor solução prática."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2362791"/>
            <a:ext cx="1920773" cy="561384"/>
            <a:chOff x="0" y="0"/>
            <a:chExt cx="2561031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0955" cy="748411"/>
            </a:xfrm>
            <a:custGeom>
              <a:avLst/>
              <a:gdLst/>
              <a:ahLst/>
              <a:cxnLst/>
              <a:rect r="r" b="b" t="t" l="l"/>
              <a:pathLst>
                <a:path h="748411" w="2560955">
                  <a:moveTo>
                    <a:pt x="0" y="129159"/>
                  </a:moveTo>
                  <a:cubicBezTo>
                    <a:pt x="0" y="57912"/>
                    <a:pt x="57912" y="0"/>
                    <a:pt x="129159" y="0"/>
                  </a:cubicBezTo>
                  <a:lnTo>
                    <a:pt x="2431796" y="0"/>
                  </a:lnTo>
                  <a:cubicBezTo>
                    <a:pt x="2503170" y="0"/>
                    <a:pt x="2560955" y="57912"/>
                    <a:pt x="2560955" y="129159"/>
                  </a:cubicBezTo>
                  <a:lnTo>
                    <a:pt x="2560955" y="619252"/>
                  </a:lnTo>
                  <a:cubicBezTo>
                    <a:pt x="2560955" y="690626"/>
                    <a:pt x="2503043" y="748411"/>
                    <a:pt x="2431796" y="748411"/>
                  </a:cubicBezTo>
                  <a:lnTo>
                    <a:pt x="129159" y="748411"/>
                  </a:lnTo>
                  <a:cubicBezTo>
                    <a:pt x="57912" y="748538"/>
                    <a:pt x="0" y="69062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70" r="-2" b="-16683"/>
              </a:stretch>
            </a:blipFill>
            <a:ln w="9526" cap="sq">
              <a:solidFill>
                <a:srgbClr val="50546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2395385"/>
            <a:ext cx="2466384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REFERÊNCIAS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013767"/>
            <a:ext cx="9336881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Referências e Integrantes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617987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50546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Referências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258695"/>
            <a:ext cx="7805890" cy="256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t0st: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"How I cut GTA Online loading times by 70%", 2021.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Rockstar Games Support: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Notas do Patch 1.53 do GTA V/GTA Online.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Cormen, T. H. et al.: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200" i="true">
                <a:solidFill>
                  <a:srgbClr val="5B5F7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Algoritmos: Teoria e Prática</a:t>
            </a:r>
            <a:r>
              <a:rPr lang="en-US" sz="2200">
                <a:solidFill>
                  <a:srgbClr val="5B5F71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. Elsevier.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5209" y="4344000"/>
            <a:ext cx="8214274" cy="3575447"/>
            <a:chOff x="0" y="0"/>
            <a:chExt cx="10952366" cy="47672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52353" cy="4767199"/>
            </a:xfrm>
            <a:custGeom>
              <a:avLst/>
              <a:gdLst/>
              <a:ahLst/>
              <a:cxnLst/>
              <a:rect r="r" b="b" t="t" l="l"/>
              <a:pathLst>
                <a:path h="4767199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4495038"/>
                  </a:lnTo>
                  <a:cubicBezTo>
                    <a:pt x="10952353" y="4645406"/>
                    <a:pt x="10830433" y="4767199"/>
                    <a:pt x="10680192" y="4767199"/>
                  </a:cubicBezTo>
                  <a:lnTo>
                    <a:pt x="272161" y="4767199"/>
                  </a:lnTo>
                  <a:cubicBezTo>
                    <a:pt x="121920" y="4767199"/>
                    <a:pt x="0" y="4645406"/>
                    <a:pt x="0" y="4495038"/>
                  </a:cubicBezTo>
                  <a:close/>
                </a:path>
              </a:pathLst>
            </a:custGeom>
            <a:solidFill>
              <a:srgbClr val="505468">
                <a:alpha val="9019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78731" y="4617987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Integrantes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8731" y="5258695"/>
            <a:ext cx="7647232" cy="22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Elizabeth Stéphanhy Guimarães Miranda — 123220604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Ana Luiza Mattos de Carvalho — 124114111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Camila Ferreira dos Santos — 124117665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Miguel Pedro Pinheiro — 12315515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DAHL_S-b9ok</dc:identifier>
  <dcterms:modified xsi:type="dcterms:W3CDTF">2011-08-01T06:04:30Z</dcterms:modified>
  <cp:revision>1</cp:revision>
</cp:coreProperties>
</file>